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x="18288000" cy="10287000"/>
  <p:notesSz cx="6858000" cy="9144000"/>
  <p:embeddedFontLst>
    <p:embeddedFont>
      <p:font typeface="Times New Roman Bold" charset="1" panose="02020803070505020304"/>
      <p:regular r:id="rId14"/>
    </p:embeddedFont>
    <p:embeddedFont>
      <p:font typeface="Calibri (MS)" charset="1" panose="020F0502020204030204"/>
      <p:regular r:id="rId15"/>
    </p:embeddedFont>
    <p:embeddedFont>
      <p:font typeface="Calibri (MS) Bold" charset="1" panose="020F0702030404030204"/>
      <p:regular r:id="rId16"/>
    </p:embeddedFont>
    <p:embeddedFont>
      <p:font typeface="Times New Roman" charset="1" panose="02020603050405020304"/>
      <p:regular r:id="rId1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fonts/font14.fntdata" Type="http://schemas.openxmlformats.org/officeDocument/2006/relationships/font"/><Relationship Id="rId15" Target="fonts/font15.fntdata" Type="http://schemas.openxmlformats.org/officeDocument/2006/relationships/font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png" Type="http://schemas.openxmlformats.org/officeDocument/2006/relationships/image"/><Relationship Id="rId4" Target="../media/image4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203864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321669" y="382086"/>
            <a:ext cx="17644682" cy="9522809"/>
            <a:chOff x="0" y="0"/>
            <a:chExt cx="23526242" cy="1269707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3526242" cy="12697079"/>
            </a:xfrm>
            <a:custGeom>
              <a:avLst/>
              <a:gdLst/>
              <a:ahLst/>
              <a:cxnLst/>
              <a:rect r="r" b="b" t="t" l="l"/>
              <a:pathLst>
                <a:path h="12697079" w="23526242">
                  <a:moveTo>
                    <a:pt x="635000" y="0"/>
                  </a:moveTo>
                  <a:lnTo>
                    <a:pt x="22891242" y="0"/>
                  </a:lnTo>
                  <a:cubicBezTo>
                    <a:pt x="23059644" y="0"/>
                    <a:pt x="23221187" y="66929"/>
                    <a:pt x="23340313" y="185928"/>
                  </a:cubicBezTo>
                  <a:cubicBezTo>
                    <a:pt x="23459439" y="304927"/>
                    <a:pt x="23526242" y="466471"/>
                    <a:pt x="23526242" y="635000"/>
                  </a:cubicBezTo>
                  <a:lnTo>
                    <a:pt x="23526242" y="12062079"/>
                  </a:lnTo>
                  <a:cubicBezTo>
                    <a:pt x="23526242" y="12412726"/>
                    <a:pt x="23241888" y="12697079"/>
                    <a:pt x="22891242" y="12697079"/>
                  </a:cubicBezTo>
                  <a:lnTo>
                    <a:pt x="635000" y="12697079"/>
                  </a:lnTo>
                  <a:cubicBezTo>
                    <a:pt x="466598" y="12697079"/>
                    <a:pt x="305054" y="12630150"/>
                    <a:pt x="185928" y="12511151"/>
                  </a:cubicBezTo>
                  <a:cubicBezTo>
                    <a:pt x="66802" y="12392152"/>
                    <a:pt x="0" y="12230481"/>
                    <a:pt x="0" y="12062079"/>
                  </a:cubicBezTo>
                  <a:lnTo>
                    <a:pt x="0" y="635000"/>
                  </a:lnTo>
                  <a:cubicBezTo>
                    <a:pt x="0" y="284353"/>
                    <a:pt x="284353" y="0"/>
                    <a:pt x="6350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4934179" y="2596410"/>
            <a:ext cx="8413147" cy="5094160"/>
            <a:chOff x="0" y="0"/>
            <a:chExt cx="11217529" cy="6792214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1217529" cy="6792214"/>
            </a:xfrm>
            <a:custGeom>
              <a:avLst/>
              <a:gdLst/>
              <a:ahLst/>
              <a:cxnLst/>
              <a:rect r="r" b="b" t="t" l="l"/>
              <a:pathLst>
                <a:path h="6792214" w="11217529">
                  <a:moveTo>
                    <a:pt x="0" y="0"/>
                  </a:moveTo>
                  <a:lnTo>
                    <a:pt x="11217529" y="0"/>
                  </a:lnTo>
                  <a:lnTo>
                    <a:pt x="11217529" y="6792214"/>
                  </a:lnTo>
                  <a:lnTo>
                    <a:pt x="0" y="679221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999"/>
              </a:blip>
              <a:stretch>
                <a:fillRect l="0" t="-34" r="0" b="-34"/>
              </a:stretch>
            </a:blipFill>
          </p:spPr>
        </p:sp>
      </p:grpSp>
      <p:sp>
        <p:nvSpPr>
          <p:cNvPr name="TextBox 8" id="8"/>
          <p:cNvSpPr txBox="true"/>
          <p:nvPr/>
        </p:nvSpPr>
        <p:spPr>
          <a:xfrm rot="0">
            <a:off x="4394887" y="463534"/>
            <a:ext cx="9491691" cy="14700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398"/>
              </a:lnSpc>
            </a:pPr>
            <a:r>
              <a:rPr lang="en-US" b="true" sz="5250" u="sng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IMPORTANT INSTRUCTIONS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626488" y="311134"/>
            <a:ext cx="17028490" cy="101363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348"/>
              </a:lnSpc>
            </a:pPr>
          </a:p>
          <a:p>
            <a:pPr algn="l" marL="1210306" indent="-302577" lvl="3">
              <a:lnSpc>
                <a:spcPts val="7348"/>
              </a:lnSpc>
              <a:buAutoNum type="arabicPeriod" startAt="1"/>
            </a:pPr>
            <a:r>
              <a:rPr lang="en-US" sz="345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Try to avoid paragraphs and post your idea in points /diagrams / Infographics pictures. </a:t>
            </a:r>
          </a:p>
          <a:p>
            <a:pPr algn="l" marL="1210306" indent="-302577" lvl="3">
              <a:lnSpc>
                <a:spcPts val="7348"/>
              </a:lnSpc>
              <a:buAutoNum type="arabicPeriod" startAt="1"/>
            </a:pPr>
            <a:r>
              <a:rPr lang="en-US" sz="345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Keep your explanation precise and easy to understand.</a:t>
            </a:r>
          </a:p>
          <a:p>
            <a:pPr algn="l" marL="1210306" indent="-302577" lvl="3">
              <a:lnSpc>
                <a:spcPts val="7348"/>
              </a:lnSpc>
              <a:buAutoNum type="arabicPeriod" startAt="1"/>
            </a:pPr>
            <a:r>
              <a:rPr lang="en-US" sz="345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Idea should be unique and novel. </a:t>
            </a:r>
          </a:p>
          <a:p>
            <a:pPr algn="l" marL="1210170" indent="-302543" lvl="3">
              <a:lnSpc>
                <a:spcPts val="7348"/>
              </a:lnSpc>
              <a:buAutoNum type="arabicPeriod" startAt="1"/>
            </a:pPr>
            <a:r>
              <a:rPr lang="en-US" sz="345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You can only use provided template for making the PPT without changing the idea details pointers.</a:t>
            </a:r>
          </a:p>
          <a:p>
            <a:pPr algn="l" marL="1210306" indent="-302577" lvl="3">
              <a:lnSpc>
                <a:spcPts val="7348"/>
              </a:lnSpc>
              <a:buAutoNum type="arabicPeriod" startAt="1"/>
            </a:pPr>
            <a:r>
              <a:rPr lang="en-US" sz="345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Maximum 8 slides; remove the Important Instructions page during presentation and keep all other pages</a:t>
            </a:r>
          </a:p>
          <a:p>
            <a:pPr algn="l" marL="1210170" indent="-302543" lvl="3">
              <a:lnSpc>
                <a:spcPts val="7345"/>
              </a:lnSpc>
              <a:buAutoNum type="arabicPeriod" startAt="1"/>
            </a:pPr>
            <a:r>
              <a:rPr lang="en-US" sz="345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Submit the PPT format only; PDF, Word and other formats are not supported.</a:t>
            </a:r>
          </a:p>
          <a:p>
            <a:pPr algn="l" marL="1210306" indent="-302577" lvl="3">
              <a:lnSpc>
                <a:spcPts val="7348"/>
              </a:lnSpc>
              <a:buAutoNum type="arabicPeriod" startAt="1"/>
            </a:pPr>
            <a:r>
              <a:rPr lang="en-US" sz="345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Each team will be given 5 minutes for the presentation.</a:t>
            </a:r>
          </a:p>
          <a:p>
            <a:pPr algn="l" marL="1210306" indent="-302577" lvl="3">
              <a:lnSpc>
                <a:spcPts val="7348"/>
              </a:lnSpc>
            </a:pP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4297025" cy="10287000"/>
            <a:chOff x="0" y="0"/>
            <a:chExt cx="190627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90627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19062700">
                  <a:moveTo>
                    <a:pt x="0" y="0"/>
                  </a:moveTo>
                  <a:lnTo>
                    <a:pt x="19062700" y="0"/>
                  </a:lnTo>
                  <a:lnTo>
                    <a:pt x="190627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1335367" y="1776346"/>
            <a:ext cx="7028974" cy="7110222"/>
            <a:chOff x="0" y="0"/>
            <a:chExt cx="9371965" cy="9480296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9371965" cy="9480296"/>
            </a:xfrm>
            <a:custGeom>
              <a:avLst/>
              <a:gdLst/>
              <a:ahLst/>
              <a:cxnLst/>
              <a:rect r="r" b="b" t="t" l="l"/>
              <a:pathLst>
                <a:path h="9480296" w="9371965">
                  <a:moveTo>
                    <a:pt x="0" y="0"/>
                  </a:moveTo>
                  <a:lnTo>
                    <a:pt x="9371965" y="0"/>
                  </a:lnTo>
                  <a:lnTo>
                    <a:pt x="9371965" y="9480296"/>
                  </a:lnTo>
                  <a:lnTo>
                    <a:pt x="0" y="948029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23" t="0" r="-23" b="0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4886325" y="230896"/>
            <a:ext cx="9069419" cy="1314545"/>
            <a:chOff x="0" y="0"/>
            <a:chExt cx="12092559" cy="1752727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2092559" cy="1752727"/>
            </a:xfrm>
            <a:custGeom>
              <a:avLst/>
              <a:gdLst/>
              <a:ahLst/>
              <a:cxnLst/>
              <a:rect r="r" b="b" t="t" l="l"/>
              <a:pathLst>
                <a:path h="1752727" w="12092559">
                  <a:moveTo>
                    <a:pt x="0" y="0"/>
                  </a:moveTo>
                  <a:lnTo>
                    <a:pt x="12092559" y="0"/>
                  </a:lnTo>
                  <a:lnTo>
                    <a:pt x="12092559" y="1752727"/>
                  </a:lnTo>
                  <a:lnTo>
                    <a:pt x="0" y="175272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sp>
        <p:nvSpPr>
          <p:cNvPr name="TextBox 8" id="8"/>
          <p:cNvSpPr txBox="true"/>
          <p:nvPr/>
        </p:nvSpPr>
        <p:spPr>
          <a:xfrm rot="0">
            <a:off x="7804976" y="1700146"/>
            <a:ext cx="10317842" cy="88775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00"/>
              </a:lnSpc>
            </a:pPr>
            <a:r>
              <a:rPr lang="en-US" sz="375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Problem Statement ID -</a:t>
            </a:r>
          </a:p>
          <a:p>
            <a:pPr algn="l">
              <a:lnSpc>
                <a:spcPts val="4500"/>
              </a:lnSpc>
            </a:pPr>
          </a:p>
          <a:p>
            <a:pPr algn="l">
              <a:lnSpc>
                <a:spcPts val="4500"/>
              </a:lnSpc>
            </a:pPr>
            <a:r>
              <a:rPr lang="en-US" sz="375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Problem Statement Title -</a:t>
            </a:r>
          </a:p>
          <a:p>
            <a:pPr algn="l">
              <a:lnSpc>
                <a:spcPts val="4500"/>
              </a:lnSpc>
            </a:pPr>
          </a:p>
          <a:p>
            <a:pPr algn="l">
              <a:lnSpc>
                <a:spcPts val="4500"/>
              </a:lnSpc>
            </a:pPr>
          </a:p>
          <a:p>
            <a:pPr algn="l">
              <a:lnSpc>
                <a:spcPts val="4500"/>
              </a:lnSpc>
            </a:pPr>
          </a:p>
          <a:p>
            <a:pPr algn="l">
              <a:lnSpc>
                <a:spcPts val="4500"/>
              </a:lnSpc>
            </a:pPr>
          </a:p>
          <a:p>
            <a:pPr algn="l">
              <a:lnSpc>
                <a:spcPts val="7237"/>
              </a:lnSpc>
            </a:pPr>
            <a:r>
              <a:rPr lang="en-US" sz="375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Team Name -</a:t>
            </a:r>
          </a:p>
          <a:p>
            <a:pPr algn="l">
              <a:lnSpc>
                <a:spcPts val="7237"/>
              </a:lnSpc>
            </a:pPr>
            <a:r>
              <a:rPr lang="en-US" sz="375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Team Members-</a:t>
            </a:r>
          </a:p>
          <a:p>
            <a:pPr algn="l">
              <a:lnSpc>
                <a:spcPts val="7237"/>
              </a:lnSpc>
            </a:pPr>
            <a:r>
              <a:rPr lang="en-US" sz="375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Domain -</a:t>
            </a:r>
          </a:p>
          <a:p>
            <a:pPr algn="l">
              <a:lnSpc>
                <a:spcPts val="7237"/>
              </a:lnSpc>
            </a:pPr>
            <a:r>
              <a:rPr lang="en-US" sz="375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College / Institution -</a:t>
            </a:r>
          </a:p>
          <a:p>
            <a:pPr algn="l">
              <a:lnSpc>
                <a:spcPts val="4500"/>
              </a:lnSpc>
            </a:pPr>
          </a:p>
          <a:p>
            <a:pPr algn="l">
              <a:lnSpc>
                <a:spcPts val="4500"/>
              </a:lnSpc>
            </a:pP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203864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342900" y="382086"/>
            <a:ext cx="17644682" cy="9522809"/>
            <a:chOff x="0" y="0"/>
            <a:chExt cx="23526242" cy="1269707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3526242" cy="12697079"/>
            </a:xfrm>
            <a:custGeom>
              <a:avLst/>
              <a:gdLst/>
              <a:ahLst/>
              <a:cxnLst/>
              <a:rect r="r" b="b" t="t" l="l"/>
              <a:pathLst>
                <a:path h="12697079" w="23526242">
                  <a:moveTo>
                    <a:pt x="635000" y="0"/>
                  </a:moveTo>
                  <a:lnTo>
                    <a:pt x="22891242" y="0"/>
                  </a:lnTo>
                  <a:cubicBezTo>
                    <a:pt x="23059644" y="0"/>
                    <a:pt x="23221187" y="66929"/>
                    <a:pt x="23340313" y="185928"/>
                  </a:cubicBezTo>
                  <a:cubicBezTo>
                    <a:pt x="23459439" y="304927"/>
                    <a:pt x="23526242" y="466471"/>
                    <a:pt x="23526242" y="635000"/>
                  </a:cubicBezTo>
                  <a:lnTo>
                    <a:pt x="23526242" y="12062079"/>
                  </a:lnTo>
                  <a:cubicBezTo>
                    <a:pt x="23526242" y="12412726"/>
                    <a:pt x="23241888" y="12697079"/>
                    <a:pt x="22891242" y="12697079"/>
                  </a:cubicBezTo>
                  <a:lnTo>
                    <a:pt x="635000" y="12697079"/>
                  </a:lnTo>
                  <a:cubicBezTo>
                    <a:pt x="466598" y="12697079"/>
                    <a:pt x="305054" y="12630150"/>
                    <a:pt x="185928" y="12511151"/>
                  </a:cubicBezTo>
                  <a:cubicBezTo>
                    <a:pt x="66802" y="12392152"/>
                    <a:pt x="0" y="12230481"/>
                    <a:pt x="0" y="12062079"/>
                  </a:cubicBezTo>
                  <a:lnTo>
                    <a:pt x="0" y="635000"/>
                  </a:lnTo>
                  <a:cubicBezTo>
                    <a:pt x="0" y="284353"/>
                    <a:pt x="284353" y="0"/>
                    <a:pt x="6350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4934179" y="2596410"/>
            <a:ext cx="8413147" cy="5094160"/>
            <a:chOff x="0" y="0"/>
            <a:chExt cx="11217529" cy="6792214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1217529" cy="6792214"/>
            </a:xfrm>
            <a:custGeom>
              <a:avLst/>
              <a:gdLst/>
              <a:ahLst/>
              <a:cxnLst/>
              <a:rect r="r" b="b" t="t" l="l"/>
              <a:pathLst>
                <a:path h="6792214" w="11217529">
                  <a:moveTo>
                    <a:pt x="0" y="0"/>
                  </a:moveTo>
                  <a:lnTo>
                    <a:pt x="11217529" y="0"/>
                  </a:lnTo>
                  <a:lnTo>
                    <a:pt x="11217529" y="6792214"/>
                  </a:lnTo>
                  <a:lnTo>
                    <a:pt x="0" y="679221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999"/>
              </a:blip>
              <a:stretch>
                <a:fillRect l="0" t="-34" r="0" b="-34"/>
              </a:stretch>
            </a:blipFill>
          </p:spPr>
        </p:sp>
      </p:grpSp>
      <p:sp>
        <p:nvSpPr>
          <p:cNvPr name="TextBox 8" id="8"/>
          <p:cNvSpPr txBox="true"/>
          <p:nvPr/>
        </p:nvSpPr>
        <p:spPr>
          <a:xfrm rot="0">
            <a:off x="4495140" y="3160848"/>
            <a:ext cx="8323130" cy="37462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98829" indent="-399415" lvl="1">
              <a:lnSpc>
                <a:spcPts val="5918"/>
              </a:lnSpc>
              <a:buFont typeface="Arial"/>
              <a:buChar char="•"/>
            </a:pPr>
            <a:r>
              <a:rPr lang="en-US" sz="369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What is the problem?</a:t>
            </a:r>
          </a:p>
          <a:p>
            <a:pPr algn="l" marL="798829" indent="-399415" lvl="1">
              <a:lnSpc>
                <a:spcPts val="5918"/>
              </a:lnSpc>
              <a:buFont typeface="Arial"/>
              <a:buChar char="•"/>
            </a:pPr>
            <a:r>
              <a:rPr lang="en-US" sz="369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Why is this problem important?</a:t>
            </a:r>
          </a:p>
          <a:p>
            <a:pPr algn="l" marL="798829" indent="-399415" lvl="1">
              <a:lnSpc>
                <a:spcPts val="5918"/>
              </a:lnSpc>
              <a:buFont typeface="Arial"/>
              <a:buChar char="•"/>
            </a:pPr>
            <a:r>
              <a:rPr lang="en-US" sz="369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Who are the target users?</a:t>
            </a:r>
          </a:p>
          <a:p>
            <a:pPr algn="l" marL="798829" indent="-399415" lvl="1">
              <a:lnSpc>
                <a:spcPts val="5918"/>
              </a:lnSpc>
              <a:buFont typeface="Arial"/>
              <a:buChar char="•"/>
            </a:pPr>
            <a:r>
              <a:rPr lang="en-US" sz="369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What are the current challenges?</a:t>
            </a:r>
          </a:p>
          <a:p>
            <a:pPr algn="l" marL="798829" indent="-399415" lvl="1">
              <a:lnSpc>
                <a:spcPts val="5918"/>
              </a:lnSpc>
              <a:buFont typeface="Arial"/>
              <a:buChar char="•"/>
            </a:pPr>
            <a:r>
              <a:rPr lang="en-US" sz="369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What is missing in existing approaches?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2380177" y="2129365"/>
            <a:ext cx="5108002" cy="9946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767"/>
              </a:lnSpc>
            </a:pPr>
            <a:r>
              <a:rPr lang="en-US" sz="4500" b="true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An</a:t>
            </a:r>
            <a:r>
              <a:rPr lang="en-US" sz="4500" b="true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swer these clearly: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5463233" y="404653"/>
            <a:ext cx="7355037" cy="10194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398"/>
              </a:lnSpc>
            </a:pPr>
            <a:r>
              <a:rPr lang="en-US" b="true" sz="5250" u="sng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Problem</a:t>
            </a:r>
            <a:r>
              <a:rPr lang="en-US" b="true" sz="5250" u="sng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 Understanding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9807045" y="8572500"/>
            <a:ext cx="8089068" cy="12479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348"/>
              </a:lnSpc>
            </a:pPr>
            <a:r>
              <a:rPr lang="en-US" sz="3750">
                <a:solidFill>
                  <a:srgbClr val="000000">
                    <a:alpha val="60000"/>
                  </a:srgbClr>
                </a:solidFill>
                <a:latin typeface="Calibri (MS)"/>
                <a:ea typeface="Calibri (MS)"/>
                <a:cs typeface="Calibri (MS)"/>
                <a:sym typeface="Calibri (MS)"/>
              </a:rPr>
              <a:t>TEAM NAME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3212919" y="8047233"/>
            <a:ext cx="7680121" cy="15172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918"/>
              </a:lnSpc>
              <a:spcBef>
                <a:spcPct val="0"/>
              </a:spcBef>
            </a:pPr>
            <a:r>
              <a:rPr lang="en-US" b="true" sz="3699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Judge looks for:</a:t>
            </a:r>
          </a:p>
          <a:p>
            <a:pPr algn="l">
              <a:lnSpc>
                <a:spcPts val="5918"/>
              </a:lnSpc>
              <a:spcBef>
                <a:spcPct val="0"/>
              </a:spcBef>
            </a:pPr>
            <a:r>
              <a:rPr lang="en-US" b="true" sz="3699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Problem Understanding — 2 Marks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203864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342900" y="382086"/>
            <a:ext cx="17644682" cy="9522809"/>
            <a:chOff x="0" y="0"/>
            <a:chExt cx="23526242" cy="1269707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3526242" cy="12697079"/>
            </a:xfrm>
            <a:custGeom>
              <a:avLst/>
              <a:gdLst/>
              <a:ahLst/>
              <a:cxnLst/>
              <a:rect r="r" b="b" t="t" l="l"/>
              <a:pathLst>
                <a:path h="12697079" w="23526242">
                  <a:moveTo>
                    <a:pt x="635000" y="0"/>
                  </a:moveTo>
                  <a:lnTo>
                    <a:pt x="22891242" y="0"/>
                  </a:lnTo>
                  <a:cubicBezTo>
                    <a:pt x="23059644" y="0"/>
                    <a:pt x="23221187" y="66929"/>
                    <a:pt x="23340313" y="185928"/>
                  </a:cubicBezTo>
                  <a:cubicBezTo>
                    <a:pt x="23459439" y="304927"/>
                    <a:pt x="23526242" y="466471"/>
                    <a:pt x="23526242" y="635000"/>
                  </a:cubicBezTo>
                  <a:lnTo>
                    <a:pt x="23526242" y="12062079"/>
                  </a:lnTo>
                  <a:cubicBezTo>
                    <a:pt x="23526242" y="12412726"/>
                    <a:pt x="23241888" y="12697079"/>
                    <a:pt x="22891242" y="12697079"/>
                  </a:cubicBezTo>
                  <a:lnTo>
                    <a:pt x="635000" y="12697079"/>
                  </a:lnTo>
                  <a:cubicBezTo>
                    <a:pt x="466598" y="12697079"/>
                    <a:pt x="305054" y="12630150"/>
                    <a:pt x="185928" y="12511151"/>
                  </a:cubicBezTo>
                  <a:cubicBezTo>
                    <a:pt x="66802" y="12392152"/>
                    <a:pt x="0" y="12230481"/>
                    <a:pt x="0" y="12062079"/>
                  </a:cubicBezTo>
                  <a:lnTo>
                    <a:pt x="0" y="635000"/>
                  </a:lnTo>
                  <a:cubicBezTo>
                    <a:pt x="0" y="284353"/>
                    <a:pt x="284353" y="0"/>
                    <a:pt x="6350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4934179" y="2596410"/>
            <a:ext cx="8413147" cy="5094160"/>
            <a:chOff x="0" y="0"/>
            <a:chExt cx="11217529" cy="6792214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1217529" cy="6792214"/>
            </a:xfrm>
            <a:custGeom>
              <a:avLst/>
              <a:gdLst/>
              <a:ahLst/>
              <a:cxnLst/>
              <a:rect r="r" b="b" t="t" l="l"/>
              <a:pathLst>
                <a:path h="6792214" w="11217529">
                  <a:moveTo>
                    <a:pt x="0" y="0"/>
                  </a:moveTo>
                  <a:lnTo>
                    <a:pt x="11217529" y="0"/>
                  </a:lnTo>
                  <a:lnTo>
                    <a:pt x="11217529" y="6792214"/>
                  </a:lnTo>
                  <a:lnTo>
                    <a:pt x="0" y="679221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999"/>
              </a:blip>
              <a:stretch>
                <a:fillRect l="0" t="-34" r="0" b="-34"/>
              </a:stretch>
            </a:blipFill>
          </p:spPr>
        </p:sp>
      </p:grpSp>
      <p:sp>
        <p:nvSpPr>
          <p:cNvPr name="TextBox 8" id="8"/>
          <p:cNvSpPr txBox="true"/>
          <p:nvPr/>
        </p:nvSpPr>
        <p:spPr>
          <a:xfrm rot="0">
            <a:off x="4979187" y="3317580"/>
            <a:ext cx="10452277" cy="37463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98829" indent="-399415" lvl="1">
              <a:lnSpc>
                <a:spcPts val="5916"/>
              </a:lnSpc>
              <a:buFont typeface="Arial"/>
              <a:buChar char="•"/>
            </a:pPr>
            <a:r>
              <a:rPr lang="en-US" sz="369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Solu</a:t>
            </a:r>
            <a:r>
              <a:rPr lang="en-US" sz="369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tion overview</a:t>
            </a:r>
          </a:p>
          <a:p>
            <a:pPr algn="l" marL="798829" indent="-399415" lvl="1">
              <a:lnSpc>
                <a:spcPts val="5918"/>
              </a:lnSpc>
              <a:buFont typeface="Arial"/>
              <a:buChar char="•"/>
            </a:pPr>
            <a:r>
              <a:rPr lang="en-US" sz="369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How it solves the problem</a:t>
            </a:r>
          </a:p>
          <a:p>
            <a:pPr algn="l" marL="798829" indent="-399415" lvl="1">
              <a:lnSpc>
                <a:spcPts val="5916"/>
              </a:lnSpc>
              <a:buFont typeface="Arial"/>
              <a:buChar char="•"/>
            </a:pPr>
            <a:r>
              <a:rPr lang="en-US" sz="369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Key features</a:t>
            </a:r>
          </a:p>
          <a:p>
            <a:pPr algn="l" marL="798829" indent="-399415" lvl="1">
              <a:lnSpc>
                <a:spcPts val="5916"/>
              </a:lnSpc>
              <a:buFont typeface="Arial"/>
              <a:buChar char="•"/>
            </a:pPr>
            <a:r>
              <a:rPr lang="en-US" sz="369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User workflow</a:t>
            </a:r>
          </a:p>
          <a:p>
            <a:pPr algn="l" marL="798829" indent="-399415" lvl="1">
              <a:lnSpc>
                <a:spcPts val="5918"/>
              </a:lnSpc>
              <a:buFont typeface="Arial"/>
              <a:buChar char="•"/>
            </a:pPr>
            <a:r>
              <a:rPr lang="en-US" sz="369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Expected benefit / impact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2145848" y="1747524"/>
            <a:ext cx="7231770" cy="9946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767"/>
              </a:lnSpc>
            </a:pPr>
            <a:r>
              <a:rPr lang="en-US" sz="4500" b="true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Sho</a:t>
            </a:r>
            <a:r>
              <a:rPr lang="en-US" sz="4500" b="true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w your solution visually.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5463233" y="404653"/>
            <a:ext cx="7355037" cy="10194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398"/>
              </a:lnSpc>
            </a:pPr>
            <a:r>
              <a:rPr lang="en-US" b="true" sz="5250" u="sng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Proposed</a:t>
            </a:r>
            <a:r>
              <a:rPr lang="en-US" b="true" sz="5250" u="sng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 Solution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9807045" y="8572500"/>
            <a:ext cx="8089068" cy="12479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348"/>
              </a:lnSpc>
            </a:pPr>
            <a:r>
              <a:rPr lang="en-US" sz="3750">
                <a:solidFill>
                  <a:srgbClr val="000000">
                    <a:alpha val="60000"/>
                  </a:srgbClr>
                </a:solidFill>
                <a:latin typeface="Calibri (MS)"/>
                <a:ea typeface="Calibri (MS)"/>
                <a:cs typeface="Calibri (MS)"/>
                <a:sym typeface="Calibri (MS)"/>
              </a:rPr>
              <a:t>TEAM NAME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3212919" y="8047233"/>
            <a:ext cx="7680121" cy="15172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918"/>
              </a:lnSpc>
              <a:spcBef>
                <a:spcPct val="0"/>
              </a:spcBef>
            </a:pPr>
            <a:r>
              <a:rPr lang="en-US" b="true" sz="3699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Judge looks for:</a:t>
            </a:r>
          </a:p>
          <a:p>
            <a:pPr algn="l">
              <a:lnSpc>
                <a:spcPts val="5918"/>
              </a:lnSpc>
              <a:spcBef>
                <a:spcPct val="0"/>
              </a:spcBef>
            </a:pPr>
            <a:r>
              <a:rPr lang="en-US" b="true" sz="3699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Proposed Solution — 2 Marks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2433059" y="2523147"/>
            <a:ext cx="2771062" cy="7742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918"/>
              </a:lnSpc>
            </a:pPr>
            <a:r>
              <a:rPr lang="en-US" b="true" sz="3699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I</a:t>
            </a:r>
            <a:r>
              <a:rPr lang="en-US" b="true" sz="3699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nclude: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203864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342900" y="382086"/>
            <a:ext cx="17644682" cy="9522809"/>
            <a:chOff x="0" y="0"/>
            <a:chExt cx="23526242" cy="1269707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3526242" cy="12697079"/>
            </a:xfrm>
            <a:custGeom>
              <a:avLst/>
              <a:gdLst/>
              <a:ahLst/>
              <a:cxnLst/>
              <a:rect r="r" b="b" t="t" l="l"/>
              <a:pathLst>
                <a:path h="12697079" w="23526242">
                  <a:moveTo>
                    <a:pt x="635000" y="0"/>
                  </a:moveTo>
                  <a:lnTo>
                    <a:pt x="22891242" y="0"/>
                  </a:lnTo>
                  <a:cubicBezTo>
                    <a:pt x="23059644" y="0"/>
                    <a:pt x="23221187" y="66929"/>
                    <a:pt x="23340313" y="185928"/>
                  </a:cubicBezTo>
                  <a:cubicBezTo>
                    <a:pt x="23459439" y="304927"/>
                    <a:pt x="23526242" y="466471"/>
                    <a:pt x="23526242" y="635000"/>
                  </a:cubicBezTo>
                  <a:lnTo>
                    <a:pt x="23526242" y="12062079"/>
                  </a:lnTo>
                  <a:cubicBezTo>
                    <a:pt x="23526242" y="12412726"/>
                    <a:pt x="23241888" y="12697079"/>
                    <a:pt x="22891242" y="12697079"/>
                  </a:cubicBezTo>
                  <a:lnTo>
                    <a:pt x="635000" y="12697079"/>
                  </a:lnTo>
                  <a:cubicBezTo>
                    <a:pt x="466598" y="12697079"/>
                    <a:pt x="305054" y="12630150"/>
                    <a:pt x="185928" y="12511151"/>
                  </a:cubicBezTo>
                  <a:cubicBezTo>
                    <a:pt x="66802" y="12392152"/>
                    <a:pt x="0" y="12230481"/>
                    <a:pt x="0" y="12062079"/>
                  </a:cubicBezTo>
                  <a:lnTo>
                    <a:pt x="0" y="635000"/>
                  </a:lnTo>
                  <a:cubicBezTo>
                    <a:pt x="0" y="284353"/>
                    <a:pt x="284353" y="0"/>
                    <a:pt x="6350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4934179" y="2596410"/>
            <a:ext cx="8413147" cy="5094160"/>
            <a:chOff x="0" y="0"/>
            <a:chExt cx="11217529" cy="6792214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1217529" cy="6792214"/>
            </a:xfrm>
            <a:custGeom>
              <a:avLst/>
              <a:gdLst/>
              <a:ahLst/>
              <a:cxnLst/>
              <a:rect r="r" b="b" t="t" l="l"/>
              <a:pathLst>
                <a:path h="6792214" w="11217529">
                  <a:moveTo>
                    <a:pt x="0" y="0"/>
                  </a:moveTo>
                  <a:lnTo>
                    <a:pt x="11217529" y="0"/>
                  </a:lnTo>
                  <a:lnTo>
                    <a:pt x="11217529" y="6792214"/>
                  </a:lnTo>
                  <a:lnTo>
                    <a:pt x="0" y="679221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999"/>
              </a:blip>
              <a:stretch>
                <a:fillRect l="0" t="-34" r="0" b="-34"/>
              </a:stretch>
            </a:blipFill>
          </p:spPr>
        </p:sp>
      </p:grpSp>
      <p:sp>
        <p:nvSpPr>
          <p:cNvPr name="TextBox 8" id="8"/>
          <p:cNvSpPr txBox="true"/>
          <p:nvPr/>
        </p:nvSpPr>
        <p:spPr>
          <a:xfrm rot="0">
            <a:off x="2840957" y="2669685"/>
            <a:ext cx="13932175" cy="6193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47700" indent="-323850" lvl="1">
              <a:lnSpc>
                <a:spcPts val="4798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Inpu</a:t>
            </a:r>
            <a:r>
              <a:rPr lang="en-US" sz="30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t → Data Processing → AI/ML/Security Engine → Backend → Frontend → Output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930416" y="1601712"/>
            <a:ext cx="8981673" cy="9946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767"/>
              </a:lnSpc>
            </a:pPr>
            <a:r>
              <a:rPr lang="en-US" sz="4500" b="true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Create</a:t>
            </a:r>
            <a:r>
              <a:rPr lang="en-US" sz="4500" b="true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 a clear architecture diagram: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5463233" y="404653"/>
            <a:ext cx="7355037" cy="10194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398"/>
              </a:lnSpc>
            </a:pPr>
            <a:r>
              <a:rPr lang="en-US" b="true" sz="5250" u="sng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Technica</a:t>
            </a:r>
            <a:r>
              <a:rPr lang="en-US" b="true" sz="5250" u="sng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l Architecture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9807045" y="8572500"/>
            <a:ext cx="8089068" cy="12479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348"/>
              </a:lnSpc>
            </a:pPr>
            <a:r>
              <a:rPr lang="en-US" sz="3750">
                <a:solidFill>
                  <a:srgbClr val="000000">
                    <a:alpha val="60000"/>
                  </a:srgbClr>
                </a:solidFill>
                <a:latin typeface="Calibri (MS)"/>
                <a:ea typeface="Calibri (MS)"/>
                <a:cs typeface="Calibri (MS)"/>
                <a:sym typeface="Calibri (MS)"/>
              </a:rPr>
              <a:t>TEAM NAME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3212919" y="8047233"/>
            <a:ext cx="7680121" cy="15174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918"/>
              </a:lnSpc>
              <a:spcBef>
                <a:spcPct val="0"/>
              </a:spcBef>
            </a:pPr>
            <a:r>
              <a:rPr lang="en-US" b="true" sz="3699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Judge looks for:</a:t>
            </a:r>
          </a:p>
          <a:p>
            <a:pPr algn="l">
              <a:lnSpc>
                <a:spcPts val="5916"/>
              </a:lnSpc>
              <a:spcBef>
                <a:spcPct val="0"/>
              </a:spcBef>
            </a:pPr>
            <a:r>
              <a:rPr lang="en-US" b="true" sz="3699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Technical Architecture — 2 Marks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2365637" y="3314637"/>
            <a:ext cx="2568542" cy="7742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918"/>
              </a:lnSpc>
              <a:spcBef>
                <a:spcPct val="0"/>
              </a:spcBef>
            </a:pPr>
            <a:r>
              <a:rPr lang="en-US" b="true" sz="3699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Include: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2885505" y="4155589"/>
            <a:ext cx="6255247" cy="2895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809625" indent="-404812" lvl="1">
              <a:lnSpc>
                <a:spcPts val="5625"/>
              </a:lnSpc>
              <a:buFont typeface="Arial"/>
              <a:buChar char="•"/>
            </a:pPr>
            <a:r>
              <a:rPr lang="en-US" sz="375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Dataset / Input</a:t>
            </a:r>
          </a:p>
          <a:p>
            <a:pPr algn="l" marL="809625" indent="-404812" lvl="1">
              <a:lnSpc>
                <a:spcPts val="5625"/>
              </a:lnSpc>
              <a:buFont typeface="Arial"/>
              <a:buChar char="•"/>
            </a:pPr>
            <a:r>
              <a:rPr lang="en-US" sz="375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Models / Algorithms</a:t>
            </a:r>
          </a:p>
          <a:p>
            <a:pPr algn="l" marL="809625" indent="-404812" lvl="1">
              <a:lnSpc>
                <a:spcPts val="5625"/>
              </a:lnSpc>
              <a:buFont typeface="Arial"/>
              <a:buChar char="•"/>
            </a:pPr>
            <a:r>
              <a:rPr lang="en-US" sz="375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AI/ML/Security components</a:t>
            </a:r>
          </a:p>
          <a:p>
            <a:pPr algn="l" marL="809625" indent="-404812" lvl="1">
              <a:lnSpc>
                <a:spcPts val="5625"/>
              </a:lnSpc>
              <a:buFont typeface="Arial"/>
              <a:buChar char="•"/>
            </a:pPr>
            <a:r>
              <a:rPr lang="en-US" sz="375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Backend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0262478" y="4080595"/>
            <a:ext cx="5111585" cy="3609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809625" indent="-404812" lvl="1">
              <a:lnSpc>
                <a:spcPts val="5625"/>
              </a:lnSpc>
              <a:buFont typeface="Arial"/>
              <a:buChar char="•"/>
            </a:pPr>
            <a:r>
              <a:rPr lang="en-US" sz="375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Database</a:t>
            </a:r>
          </a:p>
          <a:p>
            <a:pPr algn="l" marL="809625" indent="-404812" lvl="1">
              <a:lnSpc>
                <a:spcPts val="5625"/>
              </a:lnSpc>
              <a:buFont typeface="Arial"/>
              <a:buChar char="•"/>
            </a:pPr>
            <a:r>
              <a:rPr lang="en-US" sz="375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APIs</a:t>
            </a:r>
          </a:p>
          <a:p>
            <a:pPr algn="l" marL="809625" indent="-404812" lvl="1">
              <a:lnSpc>
                <a:spcPts val="5625"/>
              </a:lnSpc>
              <a:buFont typeface="Arial"/>
              <a:buChar char="•"/>
            </a:pPr>
            <a:r>
              <a:rPr lang="en-US" sz="375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Frontend</a:t>
            </a:r>
          </a:p>
          <a:p>
            <a:pPr algn="l" marL="809625" indent="-404812" lvl="1">
              <a:lnSpc>
                <a:spcPts val="5625"/>
              </a:lnSpc>
              <a:buFont typeface="Arial"/>
              <a:buChar char="•"/>
            </a:pPr>
            <a:r>
              <a:rPr lang="en-US" sz="375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Deployment approach</a:t>
            </a:r>
          </a:p>
          <a:p>
            <a:pPr algn="l">
              <a:lnSpc>
                <a:spcPts val="5625"/>
              </a:lnSpc>
            </a:pP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203864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342900" y="382086"/>
            <a:ext cx="17644682" cy="9522809"/>
            <a:chOff x="0" y="0"/>
            <a:chExt cx="23526242" cy="1269707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3526242" cy="12697079"/>
            </a:xfrm>
            <a:custGeom>
              <a:avLst/>
              <a:gdLst/>
              <a:ahLst/>
              <a:cxnLst/>
              <a:rect r="r" b="b" t="t" l="l"/>
              <a:pathLst>
                <a:path h="12697079" w="23526242">
                  <a:moveTo>
                    <a:pt x="635000" y="0"/>
                  </a:moveTo>
                  <a:lnTo>
                    <a:pt x="22891242" y="0"/>
                  </a:lnTo>
                  <a:cubicBezTo>
                    <a:pt x="23059644" y="0"/>
                    <a:pt x="23221187" y="66929"/>
                    <a:pt x="23340313" y="185928"/>
                  </a:cubicBezTo>
                  <a:cubicBezTo>
                    <a:pt x="23459439" y="304927"/>
                    <a:pt x="23526242" y="466471"/>
                    <a:pt x="23526242" y="635000"/>
                  </a:cubicBezTo>
                  <a:lnTo>
                    <a:pt x="23526242" y="12062079"/>
                  </a:lnTo>
                  <a:cubicBezTo>
                    <a:pt x="23526242" y="12412726"/>
                    <a:pt x="23241888" y="12697079"/>
                    <a:pt x="22891242" y="12697079"/>
                  </a:cubicBezTo>
                  <a:lnTo>
                    <a:pt x="635000" y="12697079"/>
                  </a:lnTo>
                  <a:cubicBezTo>
                    <a:pt x="466598" y="12697079"/>
                    <a:pt x="305054" y="12630150"/>
                    <a:pt x="185928" y="12511151"/>
                  </a:cubicBezTo>
                  <a:cubicBezTo>
                    <a:pt x="66802" y="12392152"/>
                    <a:pt x="0" y="12230481"/>
                    <a:pt x="0" y="12062079"/>
                  </a:cubicBezTo>
                  <a:lnTo>
                    <a:pt x="0" y="635000"/>
                  </a:lnTo>
                  <a:cubicBezTo>
                    <a:pt x="0" y="284353"/>
                    <a:pt x="284353" y="0"/>
                    <a:pt x="6350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4934179" y="2596410"/>
            <a:ext cx="8413147" cy="5094160"/>
            <a:chOff x="0" y="0"/>
            <a:chExt cx="11217529" cy="6792214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1217529" cy="6792214"/>
            </a:xfrm>
            <a:custGeom>
              <a:avLst/>
              <a:gdLst/>
              <a:ahLst/>
              <a:cxnLst/>
              <a:rect r="r" b="b" t="t" l="l"/>
              <a:pathLst>
                <a:path h="6792214" w="11217529">
                  <a:moveTo>
                    <a:pt x="0" y="0"/>
                  </a:moveTo>
                  <a:lnTo>
                    <a:pt x="11217529" y="0"/>
                  </a:lnTo>
                  <a:lnTo>
                    <a:pt x="11217529" y="6792214"/>
                  </a:lnTo>
                  <a:lnTo>
                    <a:pt x="0" y="679221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999"/>
              </a:blip>
              <a:stretch>
                <a:fillRect l="0" t="-34" r="0" b="-34"/>
              </a:stretch>
            </a:blipFill>
          </p:spPr>
        </p:sp>
      </p:grpSp>
      <p:sp>
        <p:nvSpPr>
          <p:cNvPr name="TextBox 8" id="8"/>
          <p:cNvSpPr txBox="true"/>
          <p:nvPr/>
        </p:nvSpPr>
        <p:spPr>
          <a:xfrm rot="0">
            <a:off x="1526671" y="1662743"/>
            <a:ext cx="9997143" cy="9336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198"/>
              </a:lnSpc>
            </a:pPr>
            <a:r>
              <a:rPr lang="en-US" b="true" sz="4500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This</a:t>
            </a:r>
            <a:r>
              <a:rPr lang="en-US" b="true" sz="4500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 is the most important technical slide.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5463233" y="404653"/>
            <a:ext cx="7355037" cy="20770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394"/>
              </a:lnSpc>
            </a:pPr>
            <a:r>
              <a:rPr lang="en-US" b="true" sz="5250" u="sng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Technica</a:t>
            </a:r>
            <a:r>
              <a:rPr lang="en-US" b="true" sz="5250" u="sng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l Contribution</a:t>
            </a:r>
          </a:p>
          <a:p>
            <a:pPr algn="ctr">
              <a:lnSpc>
                <a:spcPts val="8398"/>
              </a:lnSpc>
            </a:pPr>
          </a:p>
        </p:txBody>
      </p:sp>
      <p:sp>
        <p:nvSpPr>
          <p:cNvPr name="TextBox 10" id="10"/>
          <p:cNvSpPr txBox="true"/>
          <p:nvPr/>
        </p:nvSpPr>
        <p:spPr>
          <a:xfrm rot="0">
            <a:off x="9807045" y="8572500"/>
            <a:ext cx="8089068" cy="12479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348"/>
              </a:lnSpc>
            </a:pPr>
            <a:r>
              <a:rPr lang="en-US" sz="3750">
                <a:solidFill>
                  <a:srgbClr val="000000">
                    <a:alpha val="60000"/>
                  </a:srgbClr>
                </a:solidFill>
                <a:latin typeface="Calibri (MS)"/>
                <a:ea typeface="Calibri (MS)"/>
                <a:cs typeface="Calibri (MS)"/>
                <a:sym typeface="Calibri (MS)"/>
              </a:rPr>
              <a:t>TEAM NAME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967044" y="2425074"/>
            <a:ext cx="2689482" cy="7132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438"/>
              </a:lnSpc>
              <a:spcBef>
                <a:spcPct val="0"/>
              </a:spcBef>
            </a:pPr>
            <a:r>
              <a:rPr lang="en-US" b="true" sz="3399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M</a:t>
            </a:r>
            <a:r>
              <a:rPr lang="en-US" b="true" sz="3399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ention: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2247052" y="3056804"/>
            <a:ext cx="16299539" cy="3467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47700" indent="-323850" lvl="1">
              <a:lnSpc>
                <a:spcPts val="450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Wh</a:t>
            </a:r>
            <a:r>
              <a:rPr lang="en-US" sz="30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at model / algorithm are you using?</a:t>
            </a:r>
          </a:p>
          <a:p>
            <a:pPr algn="l" marL="647700" indent="-323850" lvl="1">
              <a:lnSpc>
                <a:spcPts val="450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Training / fine-tuning approach</a:t>
            </a:r>
          </a:p>
          <a:p>
            <a:pPr algn="l" marL="647700" indent="-323850" lvl="1">
              <a:lnSpc>
                <a:spcPts val="450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Feature engineering / RAG / multimodal processing / anomaly detection / agentic reasoning, etc.</a:t>
            </a:r>
          </a:p>
          <a:p>
            <a:pPr algn="l" marL="647700" indent="-323850" lvl="1">
              <a:lnSpc>
                <a:spcPts val="450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Dataset preparation</a:t>
            </a:r>
          </a:p>
          <a:p>
            <a:pPr algn="l" marL="647700" indent="-323850" lvl="1">
              <a:lnSpc>
                <a:spcPts val="450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Evaluation metrics</a:t>
            </a:r>
          </a:p>
          <a:p>
            <a:pPr algn="l" marL="647700" indent="-323850" lvl="1">
              <a:lnSpc>
                <a:spcPts val="450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What is technically different about your implementation?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967044" y="6394773"/>
            <a:ext cx="3238015" cy="7135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436"/>
              </a:lnSpc>
              <a:spcBef>
                <a:spcPct val="0"/>
              </a:spcBef>
            </a:pPr>
            <a:r>
              <a:rPr lang="en-US" b="true" sz="3399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Also m</a:t>
            </a:r>
            <a:r>
              <a:rPr lang="en-US" b="true" sz="3399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ention: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2828172" y="7097665"/>
            <a:ext cx="12993948" cy="609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00"/>
              </a:lnSpc>
            </a:pPr>
            <a:r>
              <a:rPr lang="en-US" sz="30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“Our</a:t>
            </a:r>
            <a:r>
              <a:rPr lang="en-US" sz="30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solution is not just a generic API wrapper. We contribute through ______.”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3365319" y="8199633"/>
            <a:ext cx="7680121" cy="15174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918"/>
              </a:lnSpc>
              <a:spcBef>
                <a:spcPct val="0"/>
              </a:spcBef>
            </a:pPr>
            <a:r>
              <a:rPr lang="en-US" b="true" sz="3699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Judge looks for:</a:t>
            </a:r>
          </a:p>
          <a:p>
            <a:pPr algn="l">
              <a:lnSpc>
                <a:spcPts val="5916"/>
              </a:lnSpc>
              <a:spcBef>
                <a:spcPct val="0"/>
              </a:spcBef>
            </a:pPr>
            <a:r>
              <a:rPr lang="en-US" b="true" sz="3699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Technical Contribution — 2 Marks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203864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342900" y="382086"/>
            <a:ext cx="17644682" cy="9522809"/>
            <a:chOff x="0" y="0"/>
            <a:chExt cx="23526242" cy="1269707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3526242" cy="12697079"/>
            </a:xfrm>
            <a:custGeom>
              <a:avLst/>
              <a:gdLst/>
              <a:ahLst/>
              <a:cxnLst/>
              <a:rect r="r" b="b" t="t" l="l"/>
              <a:pathLst>
                <a:path h="12697079" w="23526242">
                  <a:moveTo>
                    <a:pt x="635000" y="0"/>
                  </a:moveTo>
                  <a:lnTo>
                    <a:pt x="22891242" y="0"/>
                  </a:lnTo>
                  <a:cubicBezTo>
                    <a:pt x="23059644" y="0"/>
                    <a:pt x="23221187" y="66929"/>
                    <a:pt x="23340313" y="185928"/>
                  </a:cubicBezTo>
                  <a:cubicBezTo>
                    <a:pt x="23459439" y="304927"/>
                    <a:pt x="23526242" y="466471"/>
                    <a:pt x="23526242" y="635000"/>
                  </a:cubicBezTo>
                  <a:lnTo>
                    <a:pt x="23526242" y="12062079"/>
                  </a:lnTo>
                  <a:cubicBezTo>
                    <a:pt x="23526242" y="12412726"/>
                    <a:pt x="23241888" y="12697079"/>
                    <a:pt x="22891242" y="12697079"/>
                  </a:cubicBezTo>
                  <a:lnTo>
                    <a:pt x="635000" y="12697079"/>
                  </a:lnTo>
                  <a:cubicBezTo>
                    <a:pt x="466598" y="12697079"/>
                    <a:pt x="305054" y="12630150"/>
                    <a:pt x="185928" y="12511151"/>
                  </a:cubicBezTo>
                  <a:cubicBezTo>
                    <a:pt x="66802" y="12392152"/>
                    <a:pt x="0" y="12230481"/>
                    <a:pt x="0" y="12062079"/>
                  </a:cubicBezTo>
                  <a:lnTo>
                    <a:pt x="0" y="635000"/>
                  </a:lnTo>
                  <a:cubicBezTo>
                    <a:pt x="0" y="284353"/>
                    <a:pt x="284353" y="0"/>
                    <a:pt x="6350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4934179" y="2596410"/>
            <a:ext cx="8413147" cy="5094160"/>
            <a:chOff x="0" y="0"/>
            <a:chExt cx="11217529" cy="6792214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1217529" cy="6792214"/>
            </a:xfrm>
            <a:custGeom>
              <a:avLst/>
              <a:gdLst/>
              <a:ahLst/>
              <a:cxnLst/>
              <a:rect r="r" b="b" t="t" l="l"/>
              <a:pathLst>
                <a:path h="6792214" w="11217529">
                  <a:moveTo>
                    <a:pt x="0" y="0"/>
                  </a:moveTo>
                  <a:lnTo>
                    <a:pt x="11217529" y="0"/>
                  </a:lnTo>
                  <a:lnTo>
                    <a:pt x="11217529" y="6792214"/>
                  </a:lnTo>
                  <a:lnTo>
                    <a:pt x="0" y="679221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999"/>
              </a:blip>
              <a:stretch>
                <a:fillRect l="0" t="-34" r="0" b="-34"/>
              </a:stretch>
            </a:blipFill>
          </p:spPr>
        </p:sp>
      </p:grpSp>
      <p:sp>
        <p:nvSpPr>
          <p:cNvPr name="TextBox 8" id="8"/>
          <p:cNvSpPr txBox="true"/>
          <p:nvPr/>
        </p:nvSpPr>
        <p:spPr>
          <a:xfrm rot="0">
            <a:off x="1526671" y="1662743"/>
            <a:ext cx="11820655" cy="9336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198"/>
              </a:lnSpc>
            </a:pPr>
            <a:r>
              <a:rPr lang="en-US" b="true" sz="4500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Show how you will</a:t>
            </a:r>
            <a:r>
              <a:rPr lang="en-US" b="true" sz="4500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 build it during the hackathon.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5198985" y="404653"/>
            <a:ext cx="7355037" cy="10194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398"/>
              </a:lnSpc>
            </a:pPr>
            <a:r>
              <a:rPr lang="en-US" b="true" sz="5250" u="sng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Exec</a:t>
            </a:r>
            <a:r>
              <a:rPr lang="en-US" b="true" sz="5250" u="sng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ution Plan + Q&amp;A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9807045" y="8572500"/>
            <a:ext cx="8089068" cy="12479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348"/>
              </a:lnSpc>
            </a:pPr>
            <a:r>
              <a:rPr lang="en-US" sz="3750">
                <a:solidFill>
                  <a:srgbClr val="000000">
                    <a:alpha val="60000"/>
                  </a:srgbClr>
                </a:solidFill>
                <a:latin typeface="Calibri (MS)"/>
                <a:ea typeface="Calibri (MS)"/>
                <a:cs typeface="Calibri (MS)"/>
                <a:sym typeface="Calibri (MS)"/>
              </a:rPr>
              <a:t>TEAM NAME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3102934" y="2527356"/>
            <a:ext cx="11547138" cy="3467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47700" indent="-323850" lvl="1">
              <a:lnSpc>
                <a:spcPts val="450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0–2 hrs: Se</a:t>
            </a:r>
            <a:r>
              <a:rPr lang="en-US" sz="30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tup &amp; dataset</a:t>
            </a:r>
          </a:p>
          <a:p>
            <a:pPr algn="l" marL="647700" indent="-323850" lvl="1">
              <a:lnSpc>
                <a:spcPts val="450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2–6 hrs: Core development</a:t>
            </a:r>
          </a:p>
          <a:p>
            <a:pPr algn="l" marL="647700" indent="-323850" lvl="1">
              <a:lnSpc>
                <a:spcPts val="450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6–12 hrs: AI/ML/Security implementation</a:t>
            </a:r>
          </a:p>
          <a:p>
            <a:pPr algn="l" marL="647700" indent="-323850" lvl="1">
              <a:lnSpc>
                <a:spcPts val="450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12–18 hrs: Integration</a:t>
            </a:r>
          </a:p>
          <a:p>
            <a:pPr algn="l" marL="647700" indent="-323850" lvl="1">
              <a:lnSpc>
                <a:spcPts val="450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18–22 hrs: Testing &amp; deployment</a:t>
            </a:r>
          </a:p>
          <a:p>
            <a:pPr algn="l" marL="647700" indent="-323850" lvl="1">
              <a:lnSpc>
                <a:spcPts val="450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22–24 hrs: Final refinement &amp; demo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2244696" y="5880156"/>
            <a:ext cx="2689482" cy="7135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436"/>
              </a:lnSpc>
              <a:spcBef>
                <a:spcPct val="0"/>
              </a:spcBef>
            </a:pPr>
            <a:r>
              <a:rPr lang="en-US" b="true" sz="3399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Also </a:t>
            </a:r>
            <a:r>
              <a:rPr lang="en-US" b="true" sz="3399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include: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3102934" y="6664118"/>
            <a:ext cx="12993948" cy="2895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47700" indent="-323850" lvl="1">
              <a:lnSpc>
                <a:spcPts val="450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Team member</a:t>
            </a:r>
            <a:r>
              <a:rPr lang="en-US" sz="30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responsibilities</a:t>
            </a:r>
          </a:p>
          <a:p>
            <a:pPr algn="l" marL="647700" indent="-323850" lvl="1">
              <a:lnSpc>
                <a:spcPts val="450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Major risks</a:t>
            </a:r>
          </a:p>
          <a:p>
            <a:pPr algn="l" marL="647700" indent="-323850" lvl="1">
              <a:lnSpc>
                <a:spcPts val="450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Backup plan</a:t>
            </a:r>
          </a:p>
          <a:p>
            <a:pPr algn="l" marL="647700" indent="-323850" lvl="1">
              <a:lnSpc>
                <a:spcPts val="450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Expected final output</a:t>
            </a:r>
          </a:p>
          <a:p>
            <a:pPr algn="l">
              <a:lnSpc>
                <a:spcPts val="4500"/>
              </a:lnSpc>
            </a:pP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203864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342900" y="382086"/>
            <a:ext cx="17644682" cy="9522809"/>
            <a:chOff x="0" y="0"/>
            <a:chExt cx="23526242" cy="1269707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3526242" cy="12697079"/>
            </a:xfrm>
            <a:custGeom>
              <a:avLst/>
              <a:gdLst/>
              <a:ahLst/>
              <a:cxnLst/>
              <a:rect r="r" b="b" t="t" l="l"/>
              <a:pathLst>
                <a:path h="12697079" w="23526242">
                  <a:moveTo>
                    <a:pt x="635000" y="0"/>
                  </a:moveTo>
                  <a:lnTo>
                    <a:pt x="22891242" y="0"/>
                  </a:lnTo>
                  <a:cubicBezTo>
                    <a:pt x="23059644" y="0"/>
                    <a:pt x="23221187" y="66929"/>
                    <a:pt x="23340313" y="185928"/>
                  </a:cubicBezTo>
                  <a:cubicBezTo>
                    <a:pt x="23459439" y="304927"/>
                    <a:pt x="23526242" y="466471"/>
                    <a:pt x="23526242" y="635000"/>
                  </a:cubicBezTo>
                  <a:lnTo>
                    <a:pt x="23526242" y="12062079"/>
                  </a:lnTo>
                  <a:cubicBezTo>
                    <a:pt x="23526242" y="12412726"/>
                    <a:pt x="23241888" y="12697079"/>
                    <a:pt x="22891242" y="12697079"/>
                  </a:cubicBezTo>
                  <a:lnTo>
                    <a:pt x="635000" y="12697079"/>
                  </a:lnTo>
                  <a:cubicBezTo>
                    <a:pt x="466598" y="12697079"/>
                    <a:pt x="305054" y="12630150"/>
                    <a:pt x="185928" y="12511151"/>
                  </a:cubicBezTo>
                  <a:cubicBezTo>
                    <a:pt x="66802" y="12392152"/>
                    <a:pt x="0" y="12230481"/>
                    <a:pt x="0" y="12062079"/>
                  </a:cubicBezTo>
                  <a:lnTo>
                    <a:pt x="0" y="635000"/>
                  </a:lnTo>
                  <a:cubicBezTo>
                    <a:pt x="0" y="284353"/>
                    <a:pt x="284353" y="0"/>
                    <a:pt x="6350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4934179" y="2596410"/>
            <a:ext cx="8413147" cy="5094160"/>
            <a:chOff x="0" y="0"/>
            <a:chExt cx="11217529" cy="6792214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1217529" cy="6792214"/>
            </a:xfrm>
            <a:custGeom>
              <a:avLst/>
              <a:gdLst/>
              <a:ahLst/>
              <a:cxnLst/>
              <a:rect r="r" b="b" t="t" l="l"/>
              <a:pathLst>
                <a:path h="6792214" w="11217529">
                  <a:moveTo>
                    <a:pt x="0" y="0"/>
                  </a:moveTo>
                  <a:lnTo>
                    <a:pt x="11217529" y="0"/>
                  </a:lnTo>
                  <a:lnTo>
                    <a:pt x="11217529" y="6792214"/>
                  </a:lnTo>
                  <a:lnTo>
                    <a:pt x="0" y="679221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999"/>
              </a:blip>
              <a:stretch>
                <a:fillRect l="0" t="-34" r="0" b="-34"/>
              </a:stretch>
            </a:blipFill>
          </p:spPr>
        </p:sp>
      </p:grpSp>
      <p:sp>
        <p:nvSpPr>
          <p:cNvPr name="TextBox 8" id="8"/>
          <p:cNvSpPr txBox="true"/>
          <p:nvPr/>
        </p:nvSpPr>
        <p:spPr>
          <a:xfrm rot="0">
            <a:off x="6178756" y="3657601"/>
            <a:ext cx="5972969" cy="14858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000"/>
              </a:lnSpc>
              <a:spcBef>
                <a:spcPct val="0"/>
              </a:spcBef>
            </a:pPr>
            <a:r>
              <a:rPr lang="en-US" sz="8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DAHVdGeoRGA</dc:identifier>
  <dcterms:modified xsi:type="dcterms:W3CDTF">2011-08-01T06:04:30Z</dcterms:modified>
  <cp:revision>1</cp:revision>
  <dc:title>d2d ppt template.pptx (1).pptx</dc:title>
</cp:coreProperties>
</file>